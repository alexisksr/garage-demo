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52"/>
    <p:restoredTop sz="94610"/>
  </p:normalViewPr>
  <p:slideViewPr>
    <p:cSldViewPr snapToGrid="0" snapToObjects="1">
      <p:cViewPr>
        <p:scale>
          <a:sx n="147" d="100"/>
          <a:sy n="147" d="100"/>
        </p:scale>
        <p:origin x="544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28407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3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137160" y="109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</a:t>
            </a:r>
            <a:r>
              <a:rPr lang="en-US" sz="13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CONCEPT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217920" y="-914400"/>
            <a:ext cx="4572000" cy="4572000"/>
          </a:xfrm>
          <a:prstGeom prst="ellipse">
            <a:avLst/>
          </a:prstGeom>
          <a:solidFill>
            <a:srgbClr val="00C8E0">
              <a:alpha val="10000"/>
            </a:srgbClr>
          </a:solidFill>
          <a:ln w="12700">
            <a:solidFill>
              <a:srgbClr val="00C8E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7315200" y="2743200"/>
            <a:ext cx="2560320" cy="2560320"/>
          </a:xfrm>
          <a:prstGeom prst="ellipse">
            <a:avLst/>
          </a:prstGeom>
          <a:solidFill>
            <a:srgbClr val="00C8E0">
              <a:alpha val="7000"/>
            </a:srgbClr>
          </a:solidFill>
          <a:ln w="12700">
            <a:solidFill>
              <a:srgbClr val="00C8E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PRÉSENCE</a:t>
            </a:r>
            <a:endParaRPr lang="en-US" sz="4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LIGNE,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57200" y="2450592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RÉINVENTÉE.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" y="3310128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proposition de valeur pour le Garage Auto-Ban — Fribourg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132320" y="4407408"/>
            <a:ext cx="1920240" cy="64008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7132320" y="4425696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Alexis Ludwig Käser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132320" y="4727448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62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 Concept · Fribourg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3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137160" y="109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</a:t>
            </a:r>
            <a:r>
              <a:rPr lang="en-US" sz="13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CONCEPT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36576" cy="18288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DES MATIÈRES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4114800" cy="731520"/>
          </a:xfrm>
          <a:prstGeom prst="rect">
            <a:avLst/>
          </a:prstGeom>
          <a:solidFill>
            <a:srgbClr val="262C33"/>
          </a:solidFill>
          <a:ln w="12700">
            <a:solidFill>
              <a:srgbClr val="2F37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54864" cy="73152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420624" y="1371600"/>
            <a:ext cx="502920" cy="731520"/>
          </a:xfrm>
          <a:prstGeom prst="rect">
            <a:avLst/>
          </a:prstGeom>
          <a:solidFill>
            <a:srgbClr val="1A2A2A"/>
          </a:solidFill>
          <a:ln w="12700">
            <a:solidFill>
              <a:srgbClr val="2F37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20624" y="160934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24128" y="146304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suis-je 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24128" y="177393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d'Alexis Ludwig Käser &amp; ALK Concept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1371600"/>
            <a:ext cx="4114800" cy="731520"/>
          </a:xfrm>
          <a:prstGeom prst="rect">
            <a:avLst/>
          </a:prstGeom>
          <a:solidFill>
            <a:srgbClr val="262C33"/>
          </a:solidFill>
          <a:ln w="12700">
            <a:solidFill>
              <a:srgbClr val="2F37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4663440" y="1371600"/>
            <a:ext cx="54864" cy="73152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718304" y="1371600"/>
            <a:ext cx="502920" cy="731520"/>
          </a:xfrm>
          <a:prstGeom prst="rect">
            <a:avLst/>
          </a:prstGeom>
          <a:solidFill>
            <a:srgbClr val="1A2A2A"/>
          </a:solidFill>
          <a:ln w="12700">
            <a:solidFill>
              <a:srgbClr val="2F37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718304" y="160934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21808" y="146304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constat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21808" y="177393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faiblesses du site actuel auto-ban.ch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4114800" cy="731520"/>
          </a:xfrm>
          <a:prstGeom prst="rect">
            <a:avLst/>
          </a:prstGeom>
          <a:solidFill>
            <a:srgbClr val="262C33"/>
          </a:solidFill>
          <a:ln w="12700">
            <a:solidFill>
              <a:srgbClr val="2F37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365760" y="2212848"/>
            <a:ext cx="54864" cy="73152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420624" y="2212848"/>
            <a:ext cx="502920" cy="731520"/>
          </a:xfrm>
          <a:prstGeom prst="rect">
            <a:avLst/>
          </a:prstGeom>
          <a:solidFill>
            <a:srgbClr val="1A2A2A"/>
          </a:solidFill>
          <a:ln w="12700">
            <a:solidFill>
              <a:srgbClr val="2F37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20624" y="2450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24128" y="2304288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Chiffres clés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24128" y="2615184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un bon site web est vital </a:t>
            </a:r>
            <a:r>
              <a:rPr lang="en-US" sz="900" dirty="0" err="1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90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2026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2212848"/>
            <a:ext cx="4114800" cy="731520"/>
          </a:xfrm>
          <a:prstGeom prst="rect">
            <a:avLst/>
          </a:prstGeom>
          <a:solidFill>
            <a:srgbClr val="262C33"/>
          </a:solidFill>
          <a:ln w="12700">
            <a:solidFill>
              <a:srgbClr val="2F37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4663440" y="2212848"/>
            <a:ext cx="54864" cy="73152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4718304" y="2212848"/>
            <a:ext cx="502920" cy="731520"/>
          </a:xfrm>
          <a:prstGeom prst="rect">
            <a:avLst/>
          </a:prstGeom>
          <a:solidFill>
            <a:srgbClr val="1A2A2A"/>
          </a:solidFill>
          <a:ln w="12700">
            <a:solidFill>
              <a:srgbClr val="2F37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4718304" y="2450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21808" y="2304288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→ Après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21808" y="2615184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point par point des deux sites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3054096"/>
            <a:ext cx="4114800" cy="731520"/>
          </a:xfrm>
          <a:prstGeom prst="rect">
            <a:avLst/>
          </a:prstGeom>
          <a:solidFill>
            <a:srgbClr val="262C33"/>
          </a:solidFill>
          <a:ln w="12700">
            <a:solidFill>
              <a:srgbClr val="2F37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365760" y="3054096"/>
            <a:ext cx="54864" cy="73152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420624" y="3054096"/>
            <a:ext cx="502920" cy="731520"/>
          </a:xfrm>
          <a:prstGeom prst="rect">
            <a:avLst/>
          </a:prstGeom>
          <a:solidFill>
            <a:srgbClr val="1A2A2A"/>
          </a:solidFill>
          <a:ln w="12700">
            <a:solidFill>
              <a:srgbClr val="2F37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420624" y="329184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24128" y="314553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contient le site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24128" y="3456432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6 sections du nouveau site détaillées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63440" y="3054096"/>
            <a:ext cx="4114800" cy="731520"/>
          </a:xfrm>
          <a:prstGeom prst="rect">
            <a:avLst/>
          </a:prstGeom>
          <a:solidFill>
            <a:srgbClr val="262C33"/>
          </a:solidFill>
          <a:ln w="12700">
            <a:solidFill>
              <a:srgbClr val="2F37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4663440" y="3054096"/>
            <a:ext cx="54864" cy="73152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4718304" y="3054096"/>
            <a:ext cx="502920" cy="731520"/>
          </a:xfrm>
          <a:prstGeom prst="rect">
            <a:avLst/>
          </a:prstGeom>
          <a:solidFill>
            <a:srgbClr val="1A2A2A"/>
          </a:solidFill>
          <a:ln w="12700">
            <a:solidFill>
              <a:srgbClr val="2F37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4718304" y="329184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321808" y="314553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ALK Concept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321808" y="3456432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arguments et avantages concurrentiels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65760" y="3895344"/>
            <a:ext cx="4114800" cy="731520"/>
          </a:xfrm>
          <a:prstGeom prst="rect">
            <a:avLst/>
          </a:prstGeom>
          <a:solidFill>
            <a:srgbClr val="262C33"/>
          </a:solidFill>
          <a:ln w="12700">
            <a:solidFill>
              <a:srgbClr val="2F37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Shape 42"/>
          <p:cNvSpPr/>
          <p:nvPr/>
        </p:nvSpPr>
        <p:spPr>
          <a:xfrm>
            <a:off x="365760" y="3895344"/>
            <a:ext cx="54864" cy="73152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Shape 43"/>
          <p:cNvSpPr/>
          <p:nvPr/>
        </p:nvSpPr>
        <p:spPr>
          <a:xfrm>
            <a:off x="420624" y="3895344"/>
            <a:ext cx="502920" cy="731520"/>
          </a:xfrm>
          <a:prstGeom prst="rect">
            <a:avLst/>
          </a:prstGeom>
          <a:solidFill>
            <a:srgbClr val="1A2A2A"/>
          </a:solidFill>
          <a:ln w="12700">
            <a:solidFill>
              <a:srgbClr val="2F37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420624" y="413308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024128" y="3986784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L'impact concret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024128" y="429768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ça change pour votre garage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663440" y="3895344"/>
            <a:ext cx="4114800" cy="731520"/>
          </a:xfrm>
          <a:prstGeom prst="rect">
            <a:avLst/>
          </a:prstGeom>
          <a:solidFill>
            <a:srgbClr val="262C33"/>
          </a:solidFill>
          <a:ln w="12700">
            <a:solidFill>
              <a:srgbClr val="2F37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Shape 48"/>
          <p:cNvSpPr/>
          <p:nvPr/>
        </p:nvSpPr>
        <p:spPr>
          <a:xfrm>
            <a:off x="4663440" y="3895344"/>
            <a:ext cx="54864" cy="73152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Shape 49"/>
          <p:cNvSpPr/>
          <p:nvPr/>
        </p:nvSpPr>
        <p:spPr>
          <a:xfrm>
            <a:off x="4718304" y="3895344"/>
            <a:ext cx="502920" cy="731520"/>
          </a:xfrm>
          <a:prstGeom prst="rect">
            <a:avLst/>
          </a:prstGeom>
          <a:solidFill>
            <a:srgbClr val="1A2A2A"/>
          </a:solidFill>
          <a:ln w="12700">
            <a:solidFill>
              <a:srgbClr val="2F37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Text 50"/>
          <p:cNvSpPr/>
          <p:nvPr/>
        </p:nvSpPr>
        <p:spPr>
          <a:xfrm>
            <a:off x="4718304" y="413308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321808" y="3986784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offre complète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321808" y="429768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Pack, prix, paiement et modalités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3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137160" y="109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</a:t>
            </a:r>
            <a:r>
              <a:rPr lang="en-US" sz="13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CONCEPT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36576" cy="18288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PROPOS DE MOI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SUIS-JE ?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766560" y="658368"/>
            <a:ext cx="1920240" cy="1920240"/>
          </a:xfrm>
          <a:prstGeom prst="ellipse">
            <a:avLst/>
          </a:prstGeom>
          <a:solidFill>
            <a:srgbClr val="262C33"/>
          </a:solidFill>
          <a:ln w="254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6766560" y="105156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6492240" y="263347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Alexis Ludwig Käser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481328"/>
            <a:ext cx="45720" cy="292608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58368" y="140817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Alexis Ludwig Käser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8368" y="170078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Créateur web freelance, basé à Posieux (Fribourg)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176272"/>
            <a:ext cx="45720" cy="292608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58368" y="21031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CFC Employé de commerce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8368" y="239572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complète — rigueur, gestion et relation client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871216"/>
            <a:ext cx="45720" cy="292608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58368" y="279806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Bientôt en Maturité pro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8368" y="309067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préparation pour intégrer la HEG (Haute École de Gestion)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566160"/>
            <a:ext cx="45720" cy="292608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658368" y="349300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Passionné du digital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8368" y="378561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conçois des sites modernes et percutants qui font vendre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261104"/>
            <a:ext cx="45720" cy="292608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658368" y="418795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 Concept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58368" y="44805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marque : transformer votre image en ligne en atout commercial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3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137160" y="109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</a:t>
            </a:r>
            <a:r>
              <a:rPr lang="en-US" sz="13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CONCEPT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36576" cy="18288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CONSTAT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SITE ACTUEL :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1704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opportunités manquées chaque jour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645920"/>
            <a:ext cx="4114800" cy="804672"/>
          </a:xfrm>
          <a:prstGeom prst="rect">
            <a:avLst/>
          </a:prstGeom>
          <a:solidFill>
            <a:srgbClr val="262C33"/>
          </a:solidFill>
          <a:ln w="635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20040" y="1645920"/>
            <a:ext cx="54864" cy="80467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84632" y="1719072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daté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4632" y="2029968"/>
            <a:ext cx="3895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contact visuel peu engageant — le client fuit avant de lire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09160" y="1645920"/>
            <a:ext cx="4114800" cy="804672"/>
          </a:xfrm>
          <a:prstGeom prst="rect">
            <a:avLst/>
          </a:prstGeom>
          <a:solidFill>
            <a:srgbClr val="262C33"/>
          </a:solidFill>
          <a:ln w="635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709160" y="1645920"/>
            <a:ext cx="54864" cy="80467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873752" y="1719072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responsive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73752" y="2029968"/>
            <a:ext cx="3895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60 % des recherches se font sur mobile — le site ne s'adapte pas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578608"/>
            <a:ext cx="4114800" cy="804672"/>
          </a:xfrm>
          <a:prstGeom prst="rect">
            <a:avLst/>
          </a:prstGeom>
          <a:solidFill>
            <a:srgbClr val="262C33"/>
          </a:solidFill>
          <a:ln w="635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320040" y="2578608"/>
            <a:ext cx="54864" cy="80467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84632" y="2651760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peu clair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4632" y="2962656"/>
            <a:ext cx="3895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contact existe, mais difficile à trouver, sans formulaire structuré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2578608"/>
            <a:ext cx="4114800" cy="804672"/>
          </a:xfrm>
          <a:prstGeom prst="rect">
            <a:avLst/>
          </a:prstGeom>
          <a:solidFill>
            <a:srgbClr val="262C33"/>
          </a:solidFill>
          <a:ln w="635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4709160" y="2578608"/>
            <a:ext cx="54864" cy="80467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873752" y="2651760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argument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73752" y="2962656"/>
            <a:ext cx="3895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Rien ne montre pourquoi choisir Auto-Ban plutôt qu'un concurrent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514600" y="3511296"/>
            <a:ext cx="4114800" cy="804672"/>
          </a:xfrm>
          <a:prstGeom prst="rect">
            <a:avLst/>
          </a:prstGeom>
          <a:solidFill>
            <a:srgbClr val="262C33"/>
          </a:solidFill>
          <a:ln w="635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2514600" y="3511296"/>
            <a:ext cx="54864" cy="80467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2679192" y="3584448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 cachée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679192" y="3895344"/>
            <a:ext cx="3895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ans d'expérience + diplôme HES ? Personne ne le sait sur le site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328"/>
          </a:solidFill>
          <a:ln w="12700">
            <a:solidFill>
              <a:srgbClr val="1E23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137160" y="109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</a:t>
            </a:r>
            <a:r>
              <a:rPr lang="en-US" sz="13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CONCEPT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36576" cy="18288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48640" y="5669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CHIFFRES CLÉS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UN BON SITE, C'EST VITAL ?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74320" y="1737360"/>
            <a:ext cx="1993392" cy="2606040"/>
          </a:xfrm>
          <a:prstGeom prst="rect">
            <a:avLst/>
          </a:prstGeom>
          <a:solidFill>
            <a:srgbClr val="262C33"/>
          </a:solidFill>
          <a:ln w="12700">
            <a:solidFill>
              <a:srgbClr val="2F3740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274320" y="1737360"/>
            <a:ext cx="1993392" cy="4572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274320" y="1874520"/>
            <a:ext cx="19933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65760" y="2606040"/>
            <a:ext cx="1810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gens jugent la crédibilité d'une entreprise via son site web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4023360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00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Stanford, 2024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441448" y="1737360"/>
            <a:ext cx="1993392" cy="2606040"/>
          </a:xfrm>
          <a:prstGeom prst="rect">
            <a:avLst/>
          </a:prstGeom>
          <a:solidFill>
            <a:srgbClr val="262C33"/>
          </a:solidFill>
          <a:ln w="12700">
            <a:solidFill>
              <a:srgbClr val="2F3740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2441448" y="1737360"/>
            <a:ext cx="1993392" cy="4572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2441448" y="1874520"/>
            <a:ext cx="19933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2532888" y="2606040"/>
            <a:ext cx="1810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personnes cherchent une entreprise locale en ligne avant de se déplacer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532888" y="4023360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00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BrightLocal, 2024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608576" y="1737360"/>
            <a:ext cx="1993392" cy="2606040"/>
          </a:xfrm>
          <a:prstGeom prst="rect">
            <a:avLst/>
          </a:prstGeom>
          <a:solidFill>
            <a:srgbClr val="262C33"/>
          </a:solidFill>
          <a:ln w="12700">
            <a:solidFill>
              <a:srgbClr val="2F3740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4608576" y="1737360"/>
            <a:ext cx="1993392" cy="4572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608576" y="1874520"/>
            <a:ext cx="19933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50ms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4700016" y="2606040"/>
            <a:ext cx="1810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le temps pour se forger une opinion sur un site web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00016" y="4023360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00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&amp; IT, 2023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775704" y="1737360"/>
            <a:ext cx="1993392" cy="2606040"/>
          </a:xfrm>
          <a:prstGeom prst="rect">
            <a:avLst/>
          </a:prstGeom>
          <a:solidFill>
            <a:srgbClr val="262C33"/>
          </a:solidFill>
          <a:ln w="12700">
            <a:solidFill>
              <a:srgbClr val="2F3740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6775704" y="1737360"/>
            <a:ext cx="1993392" cy="4572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6775704" y="1874520"/>
            <a:ext cx="19933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6867144" y="2606040"/>
            <a:ext cx="1810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recherches mobiles locales aboutissent à un achat physique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867144" y="4023360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00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Google, 2023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3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137160" y="109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</a:t>
            </a:r>
            <a:r>
              <a:rPr lang="en-US" sz="13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CONCEPT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36576" cy="18288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 →  APRÈS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274320" y="1335024"/>
            <a:ext cx="3886200" cy="365760"/>
          </a:xfrm>
          <a:prstGeom prst="rect">
            <a:avLst/>
          </a:prstGeom>
          <a:solidFill>
            <a:srgbClr val="5A3A3A"/>
          </a:solidFill>
          <a:ln w="12700">
            <a:solidFill>
              <a:srgbClr val="5A3A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74320" y="1362456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ANCIEN SITE (auto-ban.ch)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83480" y="1335024"/>
            <a:ext cx="3886200" cy="365760"/>
          </a:xfrm>
          <a:prstGeom prst="rect">
            <a:avLst/>
          </a:prstGeom>
          <a:solidFill>
            <a:srgbClr val="0099AE"/>
          </a:solidFill>
          <a:ln w="12700">
            <a:solidFill>
              <a:srgbClr val="0099A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983480" y="1362456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NOUVEAU SITE ALK CONCEPT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97096" y="2011680"/>
            <a:ext cx="713232" cy="1280160"/>
          </a:xfrm>
          <a:prstGeom prst="rect">
            <a:avLst/>
          </a:prstGeom>
          <a:solidFill>
            <a:srgbClr val="2F3740"/>
          </a:solidFill>
          <a:ln w="12700">
            <a:solidFill>
              <a:srgbClr val="2F37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197096" y="2331720"/>
            <a:ext cx="7132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274320" y="1773936"/>
            <a:ext cx="3886200" cy="438912"/>
          </a:xfrm>
          <a:prstGeom prst="rect">
            <a:avLst/>
          </a:prstGeom>
          <a:solidFill>
            <a:srgbClr val="2A1F1F"/>
          </a:solidFill>
          <a:ln w="12700">
            <a:solidFill>
              <a:srgbClr val="3D28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274320" y="1773936"/>
            <a:ext cx="45720" cy="43891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84048" y="1837944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Design générique, peu professionnel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258568"/>
            <a:ext cx="3886200" cy="438912"/>
          </a:xfrm>
          <a:prstGeom prst="rect">
            <a:avLst/>
          </a:prstGeom>
          <a:solidFill>
            <a:srgbClr val="221A1A"/>
          </a:solidFill>
          <a:ln w="12700">
            <a:solidFill>
              <a:srgbClr val="3D28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274320" y="2258568"/>
            <a:ext cx="45720" cy="43891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384048" y="2322576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Non adapté aux smartphones/desktop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2743200"/>
            <a:ext cx="3886200" cy="438912"/>
          </a:xfrm>
          <a:prstGeom prst="rect">
            <a:avLst/>
          </a:prstGeom>
          <a:solidFill>
            <a:srgbClr val="2A1F1F"/>
          </a:solidFill>
          <a:ln w="12700">
            <a:solidFill>
              <a:srgbClr val="3D28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274320" y="2743200"/>
            <a:ext cx="45720" cy="43891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384048" y="280720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Contact présent mais difficile à trouver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227832"/>
            <a:ext cx="3886200" cy="438912"/>
          </a:xfrm>
          <a:prstGeom prst="rect">
            <a:avLst/>
          </a:prstGeom>
          <a:solidFill>
            <a:srgbClr val="221A1A"/>
          </a:solidFill>
          <a:ln w="12700">
            <a:solidFill>
              <a:srgbClr val="3D28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274320" y="3227832"/>
            <a:ext cx="45720" cy="43891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384048" y="329184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Pas de formulaire structuré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712464"/>
            <a:ext cx="3886200" cy="438912"/>
          </a:xfrm>
          <a:prstGeom prst="rect">
            <a:avLst/>
          </a:prstGeom>
          <a:solidFill>
            <a:srgbClr val="2A1F1F"/>
          </a:solidFill>
          <a:ln w="12700">
            <a:solidFill>
              <a:srgbClr val="3D28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274320" y="3712464"/>
            <a:ext cx="45720" cy="43891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384048" y="377647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Expertise de Ban TUY invisible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4197096"/>
            <a:ext cx="3886200" cy="438912"/>
          </a:xfrm>
          <a:prstGeom prst="rect">
            <a:avLst/>
          </a:prstGeom>
          <a:solidFill>
            <a:srgbClr val="221A1A"/>
          </a:solidFill>
          <a:ln w="12700">
            <a:solidFill>
              <a:srgbClr val="3D28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274320" y="4197096"/>
            <a:ext cx="45720" cy="43891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384048" y="4261104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Aucun argument de vente mis en avant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983480" y="1773936"/>
            <a:ext cx="3886200" cy="438912"/>
          </a:xfrm>
          <a:prstGeom prst="rect">
            <a:avLst/>
          </a:prstGeom>
          <a:solidFill>
            <a:srgbClr val="1A2A2A"/>
          </a:solidFill>
          <a:ln w="12700">
            <a:solidFill>
              <a:srgbClr val="1E35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4983480" y="1773936"/>
            <a:ext cx="45720" cy="438912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5093208" y="1837944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Design dark premium, mémorable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983480" y="2258568"/>
            <a:ext cx="3886200" cy="438912"/>
          </a:xfrm>
          <a:prstGeom prst="rect">
            <a:avLst/>
          </a:prstGeom>
          <a:solidFill>
            <a:srgbClr val="152222"/>
          </a:solidFill>
          <a:ln w="12700">
            <a:solidFill>
              <a:srgbClr val="1E35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4983480" y="2258568"/>
            <a:ext cx="45720" cy="438912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5093208" y="2322576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100 % responsive — mobile, tablette, desktop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983480" y="2743200"/>
            <a:ext cx="3886200" cy="438912"/>
          </a:xfrm>
          <a:prstGeom prst="rect">
            <a:avLst/>
          </a:prstGeom>
          <a:solidFill>
            <a:srgbClr val="1A2A2A"/>
          </a:solidFill>
          <a:ln w="12700">
            <a:solidFill>
              <a:srgbClr val="1E35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4983480" y="2743200"/>
            <a:ext cx="45720" cy="438912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5093208" y="280720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Formulaire RDV complet et bien visible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983480" y="3227832"/>
            <a:ext cx="3886200" cy="438912"/>
          </a:xfrm>
          <a:prstGeom prst="rect">
            <a:avLst/>
          </a:prstGeom>
          <a:solidFill>
            <a:srgbClr val="152222"/>
          </a:solidFill>
          <a:ln w="12700">
            <a:solidFill>
              <a:srgbClr val="1E35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4983480" y="3227832"/>
            <a:ext cx="45720" cy="438912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5093208" y="329184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Choix du service + message + email intégré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983480" y="3712464"/>
            <a:ext cx="3886200" cy="438912"/>
          </a:xfrm>
          <a:prstGeom prst="rect">
            <a:avLst/>
          </a:prstGeom>
          <a:solidFill>
            <a:srgbClr val="1A2A2A"/>
          </a:solidFill>
          <a:ln w="12700">
            <a:solidFill>
              <a:srgbClr val="1E35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Shape 42"/>
          <p:cNvSpPr/>
          <p:nvPr/>
        </p:nvSpPr>
        <p:spPr>
          <a:xfrm>
            <a:off x="4983480" y="3712464"/>
            <a:ext cx="45720" cy="438912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5093208" y="377647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Page À propos : CFC, diplôme HES, timeline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983480" y="4197096"/>
            <a:ext cx="3886200" cy="438912"/>
          </a:xfrm>
          <a:prstGeom prst="rect">
            <a:avLst/>
          </a:prstGeom>
          <a:solidFill>
            <a:srgbClr val="152222"/>
          </a:solidFill>
          <a:ln w="12700">
            <a:solidFill>
              <a:srgbClr val="1E35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Shape 45"/>
          <p:cNvSpPr/>
          <p:nvPr/>
        </p:nvSpPr>
        <p:spPr>
          <a:xfrm>
            <a:off x="4983480" y="4197096"/>
            <a:ext cx="45720" cy="438912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5093208" y="4261104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4 arguments forts mis en avant clairement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328"/>
          </a:solidFill>
          <a:ln w="12700">
            <a:solidFill>
              <a:srgbClr val="1E23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137160" y="109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</a:t>
            </a:r>
            <a:r>
              <a:rPr lang="en-US" sz="13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CONCEPT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36576" cy="18288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48640" y="5669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PRODUIT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CONTIENT LE SITE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65760" y="169164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65760" y="1691640"/>
            <a:ext cx="54864" cy="91440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20624" y="1691640"/>
            <a:ext cx="438912" cy="914400"/>
          </a:xfrm>
          <a:prstGeom prst="rect">
            <a:avLst/>
          </a:prstGeom>
          <a:solidFill>
            <a:srgbClr val="E8F8FB"/>
          </a:solidFill>
          <a:ln w="12700">
            <a:solidFill>
              <a:srgbClr val="DDE6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20624" y="2020824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9264" y="1783080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CLAIRE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69264" y="2130552"/>
            <a:ext cx="3456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rubriques : Accueil · Services · À propos · Contact · Prendre rendez-vous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0" y="169164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754880" y="1691640"/>
            <a:ext cx="54864" cy="91440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4809744" y="1691640"/>
            <a:ext cx="438912" cy="914400"/>
          </a:xfrm>
          <a:prstGeom prst="rect">
            <a:avLst/>
          </a:prstGeom>
          <a:solidFill>
            <a:srgbClr val="E8F8FB"/>
          </a:solidFill>
          <a:ln w="12700">
            <a:solidFill>
              <a:srgbClr val="DDE6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809744" y="2020824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58384" y="1783080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PERCUTANT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358384" y="2130552"/>
            <a:ext cx="3456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Accroche forte, 3 statistiques clés, 2 boutons d'action bien visibles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2752344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365760" y="2752344"/>
            <a:ext cx="54864" cy="91440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420624" y="2752344"/>
            <a:ext cx="438912" cy="914400"/>
          </a:xfrm>
          <a:prstGeom prst="rect">
            <a:avLst/>
          </a:prstGeom>
          <a:solidFill>
            <a:srgbClr val="E8F8FB"/>
          </a:solidFill>
          <a:ln w="12700">
            <a:solidFill>
              <a:srgbClr val="DDE6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20624" y="3081528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69264" y="2843784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SERVICES EN GRILLE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69264" y="3191256"/>
            <a:ext cx="3456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service avec icône et description — lisible en 5 secondes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2752344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4754880" y="2752344"/>
            <a:ext cx="54864" cy="91440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4809744" y="2752344"/>
            <a:ext cx="438912" cy="914400"/>
          </a:xfrm>
          <a:prstGeom prst="rect">
            <a:avLst/>
          </a:prstGeom>
          <a:solidFill>
            <a:srgbClr val="E8F8FB"/>
          </a:solidFill>
          <a:ln w="12700">
            <a:solidFill>
              <a:srgbClr val="DDE6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809744" y="3081528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358384" y="2843784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DU PATRON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358384" y="3191256"/>
            <a:ext cx="3456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CFC 1994 + Diplôme HES 2000 + Fondation 2018 — crédibilité renforcée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65760" y="3813048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365760" y="3813048"/>
            <a:ext cx="54864" cy="91440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420624" y="3813048"/>
            <a:ext cx="438912" cy="914400"/>
          </a:xfrm>
          <a:prstGeom prst="rect">
            <a:avLst/>
          </a:prstGeom>
          <a:solidFill>
            <a:srgbClr val="E8F8FB"/>
          </a:solidFill>
          <a:ln w="12700">
            <a:solidFill>
              <a:srgbClr val="DDE6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420624" y="414223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69264" y="3904488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DE RDV COMPLET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969264" y="4251960"/>
            <a:ext cx="3456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Prénom, nom, email, choix du service, message — disponible 24h/24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54880" y="3813048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4754880" y="3813048"/>
            <a:ext cx="54864" cy="91440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4809744" y="3813048"/>
            <a:ext cx="438912" cy="914400"/>
          </a:xfrm>
          <a:prstGeom prst="rect">
            <a:avLst/>
          </a:prstGeom>
          <a:solidFill>
            <a:srgbClr val="E8F8FB"/>
          </a:solidFill>
          <a:ln w="12700">
            <a:solidFill>
              <a:srgbClr val="DDE6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4809744" y="414223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358384" y="3904488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HORAIRES + LOCALISATION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358384" y="4251960"/>
            <a:ext cx="3456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Horaires détaillés, pause midi incluse, lien Google Maps intégré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3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137160" y="109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</a:t>
            </a:r>
            <a:r>
              <a:rPr lang="en-US" sz="13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CONCEPT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36576" cy="18288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ARGUMENTS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CHOISIR ALK CONCEPT ?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1444752"/>
            <a:ext cx="4114800" cy="1005840"/>
          </a:xfrm>
          <a:prstGeom prst="rect">
            <a:avLst/>
          </a:prstGeom>
          <a:solidFill>
            <a:srgbClr val="262C33"/>
          </a:solidFill>
          <a:ln w="12700">
            <a:solidFill>
              <a:srgbClr val="2F37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365760" y="1444752"/>
            <a:ext cx="54864" cy="100584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48640" y="1536192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immédiat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90195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site est DÉJÀ CRÉÉ — vous pouvez le voir maintenant, sans attendre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444752"/>
            <a:ext cx="4114800" cy="1005840"/>
          </a:xfrm>
          <a:prstGeom prst="rect">
            <a:avLst/>
          </a:prstGeom>
          <a:solidFill>
            <a:srgbClr val="262C33"/>
          </a:solidFill>
          <a:ln w="12700">
            <a:solidFill>
              <a:srgbClr val="2F37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754880" y="1444752"/>
            <a:ext cx="54864" cy="100584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937760" y="1536192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&amp; disponible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190195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suis à Fribourg — disponible pour une rencontre en personne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596896"/>
            <a:ext cx="4114800" cy="1005840"/>
          </a:xfrm>
          <a:prstGeom prst="rect">
            <a:avLst/>
          </a:prstGeom>
          <a:solidFill>
            <a:srgbClr val="262C33"/>
          </a:solidFill>
          <a:ln w="12700">
            <a:solidFill>
              <a:srgbClr val="2F37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365760" y="2596896"/>
            <a:ext cx="54864" cy="100584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48640" y="2688336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solide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3054096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CFC employé de commerce + futur étudiant HEG — rigueur garantie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596896"/>
            <a:ext cx="4114800" cy="1005840"/>
          </a:xfrm>
          <a:prstGeom prst="rect">
            <a:avLst/>
          </a:prstGeom>
          <a:solidFill>
            <a:srgbClr val="262C33"/>
          </a:solidFill>
          <a:ln w="12700">
            <a:solidFill>
              <a:srgbClr val="2F37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4754880" y="2596896"/>
            <a:ext cx="54864" cy="100584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937760" y="2688336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premium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3054096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site qui reflète la qualité de votre travail, pas un template générique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749040"/>
            <a:ext cx="4114800" cy="1005840"/>
          </a:xfrm>
          <a:prstGeom prst="rect">
            <a:avLst/>
          </a:prstGeom>
          <a:solidFill>
            <a:srgbClr val="262C33"/>
          </a:solidFill>
          <a:ln w="12700">
            <a:solidFill>
              <a:srgbClr val="2F37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365760" y="3749040"/>
            <a:ext cx="54864" cy="100584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548640" y="3840480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Garantie satisfaction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420624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cycles de révisions inclus — jusqu'à ce que vous soyez satisfait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3749040"/>
            <a:ext cx="4114800" cy="1005840"/>
          </a:xfrm>
          <a:prstGeom prst="rect">
            <a:avLst/>
          </a:prstGeom>
          <a:solidFill>
            <a:srgbClr val="262C33"/>
          </a:solidFill>
          <a:ln w="12700">
            <a:solidFill>
              <a:srgbClr val="2F37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4754880" y="3749040"/>
            <a:ext cx="54864" cy="100584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937760" y="3840480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transparent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37760" y="420624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CHF 1'200.– tout inclus — sans TVA, sans frais cachés, négociable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328"/>
          </a:solidFill>
          <a:ln w="12700">
            <a:solidFill>
              <a:srgbClr val="1E23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137160" y="109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</a:t>
            </a:r>
            <a:r>
              <a:rPr lang="en-US" sz="13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CONCEPT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36576" cy="18288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48640" y="5669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CONCRET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ÇA CHANGE POUR VOTRE GARAGE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94943" y="2203704"/>
            <a:ext cx="45719" cy="429768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512064" y="1801368"/>
            <a:ext cx="402336" cy="402336"/>
          </a:xfrm>
          <a:prstGeom prst="ellipse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 sz="2000"/>
          </a:p>
        </p:txBody>
      </p:sp>
      <p:sp>
        <p:nvSpPr>
          <p:cNvPr id="10" name="Text 8"/>
          <p:cNvSpPr/>
          <p:nvPr/>
        </p:nvSpPr>
        <p:spPr>
          <a:xfrm>
            <a:off x="512064" y="177393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664208"/>
            <a:ext cx="77724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A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1051560" y="1664208"/>
            <a:ext cx="45720" cy="694944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1133856" y="1865376"/>
            <a:ext cx="1325880" cy="274320"/>
          </a:xfrm>
          <a:prstGeom prst="rect">
            <a:avLst/>
          </a:prstGeom>
          <a:solidFill>
            <a:srgbClr val="1E2328"/>
          </a:solidFill>
          <a:ln w="12700">
            <a:solidFill>
              <a:srgbClr val="1E23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1133856" y="1883664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Immédiat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578608" y="1810512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contact visuel fort — le client reste sur votre site et lit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12064" y="2587752"/>
            <a:ext cx="402336" cy="402336"/>
          </a:xfrm>
          <a:prstGeom prst="ellipse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 sz="2000"/>
          </a:p>
        </p:txBody>
      </p:sp>
      <p:sp>
        <p:nvSpPr>
          <p:cNvPr id="18" name="Text 16"/>
          <p:cNvSpPr/>
          <p:nvPr/>
        </p:nvSpPr>
        <p:spPr>
          <a:xfrm>
            <a:off x="512064" y="25786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450592"/>
            <a:ext cx="77724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A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1051560" y="2450592"/>
            <a:ext cx="45720" cy="694944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1133856" y="2651760"/>
            <a:ext cx="1325880" cy="274320"/>
          </a:xfrm>
          <a:prstGeom prst="rect">
            <a:avLst/>
          </a:prstGeom>
          <a:solidFill>
            <a:srgbClr val="1E2328"/>
          </a:solidFill>
          <a:ln w="12700">
            <a:solidFill>
              <a:srgbClr val="1E23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1133856" y="2670048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Dès le 1er mois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578608" y="2596896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clients trouvent vos horaires, services et contact en 10 secondes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12064" y="3374136"/>
            <a:ext cx="402336" cy="402336"/>
          </a:xfrm>
          <a:prstGeom prst="ellipse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 sz="2000"/>
          </a:p>
        </p:txBody>
      </p:sp>
      <p:sp>
        <p:nvSpPr>
          <p:cNvPr id="26" name="Text 24"/>
          <p:cNvSpPr/>
          <p:nvPr/>
        </p:nvSpPr>
        <p:spPr>
          <a:xfrm>
            <a:off x="512064" y="3372177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051560" y="3236976"/>
            <a:ext cx="77724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A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1051560" y="3236976"/>
            <a:ext cx="45720" cy="694944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1133856" y="3438144"/>
            <a:ext cx="1325880" cy="274320"/>
          </a:xfrm>
          <a:prstGeom prst="rect">
            <a:avLst/>
          </a:prstGeom>
          <a:solidFill>
            <a:srgbClr val="1E2328"/>
          </a:solidFill>
          <a:ln w="12700">
            <a:solidFill>
              <a:srgbClr val="1E23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1133856" y="3456432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continu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578608" y="338328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prises de RDV via le formulaire, même le soir et le week-end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12064" y="4160520"/>
            <a:ext cx="402336" cy="402336"/>
          </a:xfrm>
          <a:prstGeom prst="ellipse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521208" y="414049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1051560" y="4023360"/>
            <a:ext cx="77724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A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1051560" y="4023360"/>
            <a:ext cx="45720" cy="694944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1133856" y="4224528"/>
            <a:ext cx="1325880" cy="274320"/>
          </a:xfrm>
          <a:prstGeom prst="rect">
            <a:avLst/>
          </a:prstGeom>
          <a:solidFill>
            <a:srgbClr val="1E2328"/>
          </a:solidFill>
          <a:ln w="12700">
            <a:solidFill>
              <a:srgbClr val="1E23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1133856" y="4242816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terme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578608" y="4169664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image professionnelle qui justifie vos tarifs et fidélise vos clients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1E2328"/>
          </a:solidFill>
          <a:ln w="12700">
            <a:solidFill>
              <a:srgbClr val="1E23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365760" y="469087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i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site web professionnel, c'est votre meilleur commercial — disponible 24h/24, 365 jours par an.</a:t>
            </a:r>
            <a:endParaRPr lang="en-US" sz="950" dirty="0"/>
          </a:p>
        </p:txBody>
      </p:sp>
      <p:sp>
        <p:nvSpPr>
          <p:cNvPr id="41" name="Shape 6">
            <a:extLst>
              <a:ext uri="{FF2B5EF4-FFF2-40B4-BE49-F238E27FC236}">
                <a16:creationId xmlns:a16="http://schemas.microsoft.com/office/drawing/2014/main" id="{A9E3D664-A9E5-B1C1-24B0-84228CE04A4B}"/>
              </a:ext>
            </a:extLst>
          </p:cNvPr>
          <p:cNvSpPr/>
          <p:nvPr/>
        </p:nvSpPr>
        <p:spPr>
          <a:xfrm>
            <a:off x="693526" y="2983121"/>
            <a:ext cx="45719" cy="429768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Shape 6">
            <a:extLst>
              <a:ext uri="{FF2B5EF4-FFF2-40B4-BE49-F238E27FC236}">
                <a16:creationId xmlns:a16="http://schemas.microsoft.com/office/drawing/2014/main" id="{47FDE9DA-D904-82E3-83D5-2E92F1B0DC2D}"/>
              </a:ext>
            </a:extLst>
          </p:cNvPr>
          <p:cNvSpPr/>
          <p:nvPr/>
        </p:nvSpPr>
        <p:spPr>
          <a:xfrm>
            <a:off x="690372" y="3767328"/>
            <a:ext cx="45719" cy="429768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3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137160" y="109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</a:t>
            </a:r>
            <a:r>
              <a:rPr lang="en-US" sz="13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CONCEPT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36576" cy="18288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PROPOSITION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OFFRE COMPLÈTE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65760" y="1389888"/>
            <a:ext cx="3749040" cy="3337560"/>
          </a:xfrm>
          <a:prstGeom prst="rect">
            <a:avLst/>
          </a:prstGeom>
          <a:solidFill>
            <a:srgbClr val="262C33"/>
          </a:solidFill>
          <a:ln w="1905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365760" y="1389888"/>
            <a:ext cx="3749040" cy="64008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65760" y="151790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kern="0" spc="200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SITE VITRINE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5760" y="1901952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CHF 1'200.–</a:t>
            </a:r>
            <a:endParaRPr lang="en-US" sz="3700" dirty="0"/>
          </a:p>
        </p:txBody>
      </p:sp>
      <p:sp>
        <p:nvSpPr>
          <p:cNvPr id="11" name="Text 9"/>
          <p:cNvSpPr/>
          <p:nvPr/>
        </p:nvSpPr>
        <p:spPr>
          <a:xfrm>
            <a:off x="365760" y="257860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inclus · sans TVA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4360" y="2871216"/>
            <a:ext cx="3291840" cy="329184"/>
          </a:xfrm>
          <a:prstGeom prst="rect">
            <a:avLst/>
          </a:prstGeom>
          <a:solidFill>
            <a:srgbClr val="1A3A1A"/>
          </a:solidFill>
          <a:ln w="9525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594360" y="28895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Prix négociable — parlons-en !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32918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Design sur mesure premium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352958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Développement HTML/CSS/JS complet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37673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Rédaction professionnelle des textes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400507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Responsive mobile &amp; tablette inclus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424281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2 cycles de révisions offerts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44805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Livraison du fichier source complet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0" y="1389888"/>
            <a:ext cx="4206240" cy="1417320"/>
          </a:xfrm>
          <a:prstGeom prst="rect">
            <a:avLst/>
          </a:prstGeom>
          <a:solidFill>
            <a:srgbClr val="262C33"/>
          </a:solidFill>
          <a:ln w="12700">
            <a:solidFill>
              <a:srgbClr val="2F37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663440" y="148132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663440" y="177393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Acompte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CHF 600.–</a:t>
            </a:r>
            <a:r>
              <a:rPr lang="en-US" sz="110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 la signature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63440" y="206654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CHF 600.–</a:t>
            </a:r>
            <a:r>
              <a:rPr lang="en-US" sz="110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 la livraison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63440" y="235915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Virement · TWINT · Espèces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0" y="2871216"/>
            <a:ext cx="4206240" cy="914400"/>
          </a:xfrm>
          <a:prstGeom prst="rect">
            <a:avLst/>
          </a:prstGeom>
          <a:solidFill>
            <a:srgbClr val="262C33"/>
          </a:solidFill>
          <a:ln w="12700">
            <a:solidFill>
              <a:srgbClr val="2F37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663440" y="296265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DÉLAI &amp; RÉVISIONS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663440" y="325526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Livraison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à 7 jours ouvrables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63440" y="354787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révisions mineures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0" y="3849624"/>
            <a:ext cx="4206240" cy="877824"/>
          </a:xfrm>
          <a:prstGeom prst="rect">
            <a:avLst/>
          </a:prstGeom>
          <a:solidFill>
            <a:srgbClr val="262C33"/>
          </a:solidFill>
          <a:ln w="12700">
            <a:solidFill>
              <a:srgbClr val="2F37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663440" y="394106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PROPRIÉTÉ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663440" y="423367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.html remis après paiement intégral. Code 100 % propriété du client.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3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137160" y="109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</a:t>
            </a:r>
            <a:r>
              <a:rPr lang="en-US" sz="13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CONCEPT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0" y="-1371600"/>
            <a:ext cx="5486400" cy="5486400"/>
          </a:xfrm>
          <a:prstGeom prst="ellipse">
            <a:avLst/>
          </a:prstGeom>
          <a:solidFill>
            <a:srgbClr val="00C8E0">
              <a:alpha val="8000"/>
            </a:srgbClr>
          </a:solidFill>
          <a:ln w="12700">
            <a:solidFill>
              <a:srgbClr val="00C8E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7315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PASSONS À</a:t>
            </a:r>
            <a:endParaRPr lang="en-US" sz="5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00C8E0"/>
                </a:solidFill>
                <a:latin typeface="Calibri" pitchFamily="34" charset="0"/>
                <a:cs typeface="Calibri" pitchFamily="34" charset="-120"/>
              </a:rPr>
              <a:t>L'ACTION</a:t>
            </a:r>
          </a:p>
        </p:txBody>
      </p:sp>
      <p:sp>
        <p:nvSpPr>
          <p:cNvPr id="6" name="Text 4"/>
          <p:cNvSpPr/>
          <p:nvPr/>
        </p:nvSpPr>
        <p:spPr>
          <a:xfrm>
            <a:off x="457200" y="2633472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site est prêt. Il ne manque que votre accord.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246120"/>
            <a:ext cx="457200" cy="457200"/>
          </a:xfrm>
          <a:prstGeom prst="ellipse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37856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signez le devis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5760" y="40782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 + acompte CHF 600.–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91840" y="3246120"/>
            <a:ext cx="457200" cy="457200"/>
          </a:xfrm>
          <a:prstGeom prst="ellipse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29184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00400" y="37856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vous livre le site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200400" y="40782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.html en 5–7 jours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26480" y="3246120"/>
            <a:ext cx="457200" cy="457200"/>
          </a:xfrm>
          <a:prstGeom prst="ellipse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12648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035040" y="37856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payez le solde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035040" y="40782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CHF 600.– · Le site vous appartient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4608576"/>
            <a:ext cx="8412480" cy="438912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365760" y="464515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alexis.kaser@hotmail.com  ·  078 262 80 60  ·  ALK Concept, Posieux FR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3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137160" y="109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</a:t>
            </a:r>
            <a:r>
              <a:rPr lang="en-US" sz="13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CONCEPT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0" y="-457200"/>
            <a:ext cx="4114800" cy="4114800"/>
          </a:xfrm>
          <a:prstGeom prst="ellipse">
            <a:avLst/>
          </a:prstGeom>
          <a:solidFill>
            <a:srgbClr val="00C8E0">
              <a:alpha val="10000"/>
            </a:srgbClr>
          </a:solidFill>
          <a:ln w="12700">
            <a:solidFill>
              <a:srgbClr val="00C8E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858000" y="3200400"/>
            <a:ext cx="2743200" cy="2743200"/>
          </a:xfrm>
          <a:prstGeom prst="ellipse">
            <a:avLst/>
          </a:prstGeom>
          <a:solidFill>
            <a:srgbClr val="00C8E0">
              <a:alpha val="6000"/>
            </a:srgbClr>
          </a:solidFill>
          <a:ln w="12700">
            <a:solidFill>
              <a:srgbClr val="00C8E0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ATTENTION</a:t>
            </a:r>
            <a:endParaRPr lang="en-US" sz="5200" dirty="0"/>
          </a:p>
        </p:txBody>
      </p:sp>
      <p:sp>
        <p:nvSpPr>
          <p:cNvPr id="8" name="Shape 6"/>
          <p:cNvSpPr/>
          <p:nvPr/>
        </p:nvSpPr>
        <p:spPr>
          <a:xfrm>
            <a:off x="457200" y="2395728"/>
            <a:ext cx="3200400" cy="36576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57200" y="2578608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questions ?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3127248"/>
            <a:ext cx="5029200" cy="1463040"/>
          </a:xfrm>
          <a:prstGeom prst="rect">
            <a:avLst/>
          </a:prstGeom>
          <a:solidFill>
            <a:srgbClr val="262C33"/>
          </a:solidFill>
          <a:ln w="12700">
            <a:solidFill>
              <a:srgbClr val="2F37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457200" y="3127248"/>
            <a:ext cx="54864" cy="146304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40080" y="32186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contacter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54787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alexis.kaser@hotmail.com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84048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078 262 80 60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13308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</a:t>
            </a:r>
            <a:r>
              <a:rPr lang="en-US" sz="1000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 Concept · Posieux, Fribourg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A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Le site est prêt. Il ne manque que votre accord. »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4204</TotalTime>
  <Words>1011</Words>
  <Application>Microsoft Macintosh PowerPoint</Application>
  <PresentationFormat>Affichage à l'écran (16:9)</PresentationFormat>
  <Paragraphs>205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ALK Concept — Présentation Commerciale</dc:title>
  <dc:subject>PptxGenJS Presentation</dc:subject>
  <dc:creator>Alexis Ludwig Käser</dc:creator>
  <cp:lastModifiedBy>Alexis Kaser</cp:lastModifiedBy>
  <cp:revision>3</cp:revision>
  <dcterms:created xsi:type="dcterms:W3CDTF">2026-04-12T01:12:13Z</dcterms:created>
  <dcterms:modified xsi:type="dcterms:W3CDTF">2026-04-16T23:35:43Z</dcterms:modified>
</cp:coreProperties>
</file>